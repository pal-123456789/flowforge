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1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71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1E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96012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200">
                <a:solidFill>
                  <a:srgbClr val="3B5BDB"/>
                </a:solidFill>
                <a:latin typeface="Segoe UI" panose="020B0502040204020203"/>
              </a:rPr>
              <a:t>ALGOTHON'26   ·   ALG-AUTO-01   ·   VISUAL WORKFLOW AUTOMATION</a:t>
            </a:r>
            <a:endParaRPr sz="1250" b="1" i="0" spc="200">
              <a:solidFill>
                <a:srgbClr val="3B5BDB"/>
              </a:solidFill>
              <a:latin typeface="Segoe UI" panose="020B0502040204020203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24128" y="1417320"/>
            <a:ext cx="822960" cy="32004"/>
          </a:xfrm>
          <a:prstGeom prst="rect">
            <a:avLst/>
          </a:prstGeom>
          <a:solidFill>
            <a:srgbClr val="1E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65960"/>
            <a:ext cx="10241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0" b="1" i="0">
                <a:solidFill>
                  <a:srgbClr val="0E1B2E"/>
                </a:solidFill>
                <a:latin typeface="Georgia" panose="02040502050405020303"/>
              </a:rPr>
              <a:t>FlowForge</a:t>
            </a:r>
            <a:endParaRPr sz="8800" b="1" i="0">
              <a:solidFill>
                <a:srgbClr val="0E1B2E"/>
              </a:solidFill>
              <a:latin typeface="Georgia" panose="02040502050405020303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24128" y="3429000"/>
            <a:ext cx="9875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0" i="0">
                <a:solidFill>
                  <a:srgbClr val="455063"/>
                </a:solidFill>
                <a:latin typeface="Segoe UI" panose="020B0502040204020203"/>
              </a:rPr>
              <a:t>Build, run, and watch real automations — on a visual canvas, with no code.</a:t>
            </a:r>
            <a:endParaRPr sz="2300" b="0" i="0">
              <a:solidFill>
                <a:srgbClr val="455063"/>
              </a:solidFill>
              <a:latin typeface="Segoe UI" panose="020B0502040204020203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024128" y="4709160"/>
            <a:ext cx="10149840" cy="13716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49377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8A93A6"/>
                </a:solidFill>
                <a:latin typeface="Segoe UI" panose="020B0502040204020203"/>
              </a:rPr>
              <a:t>A production-grade workflow platform  ·  20 executable nodes  ·  a from-scratch DAG engine  ·  100% offline</a:t>
            </a:r>
            <a:endParaRPr sz="1450" b="0" i="0">
              <a:solidFill>
                <a:srgbClr val="8A93A6"/>
              </a:solidFill>
              <a:latin typeface="Segoe UI" panose="020B0502040204020203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24128" y="57150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EA68C"/>
                </a:solidFill>
                <a:latin typeface="Consolas" panose="020B0609020204030204"/>
              </a:rPr>
              <a:t>flowforge-lac-eight.vercel.app</a:t>
            </a:r>
            <a:endParaRPr sz="1350" b="1" i="0">
              <a:solidFill>
                <a:srgbClr val="1EA68C"/>
              </a:solidFill>
              <a:latin typeface="Consolas" panose="020B060902020403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260">
                <a:solidFill>
                  <a:srgbClr val="3B5BDB"/>
                </a:solidFill>
                <a:latin typeface="Segoe UI" panose="020B0502040204020203"/>
              </a:rPr>
              <a:t>THE PROBLEM</a:t>
            </a:r>
            <a:endParaRPr sz="1250" b="1" i="0" spc="260">
              <a:solidFill>
                <a:srgbClr val="3B5BDB"/>
              </a:solidFill>
              <a:latin typeface="Segoe UI" panose="020B0502040204020203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41248" y="1024128"/>
            <a:ext cx="548640" cy="27432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14300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0E1B2E"/>
                </a:solidFill>
                <a:latin typeface="Georgia" panose="02040502050405020303"/>
              </a:rPr>
              <a:t>Automation is still locked behind code.</a:t>
            </a:r>
            <a:endParaRPr sz="3800" b="1" i="0">
              <a:solidFill>
                <a:srgbClr val="0E1B2E"/>
              </a:solidFill>
              <a:latin typeface="Georgia" panose="02040502050405020303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22960" y="2514600"/>
            <a:ext cx="342900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  <a:effectLst>
            <a:outerShdw blurRad="90000" dist="30000" dir="5400000" rotWithShape="0">
              <a:srgbClr val="0E1B2E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834640"/>
            <a:ext cx="914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3B5BDB"/>
                </a:solidFill>
                <a:latin typeface="Georgia" panose="02040502050405020303"/>
              </a:rPr>
              <a:t>01</a:t>
            </a:r>
            <a:endParaRPr sz="3000" b="1" i="0">
              <a:solidFill>
                <a:srgbClr val="3B5BDB"/>
              </a:solidFill>
              <a:latin typeface="Georgia" panose="02040502050405020303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143000" y="3520440"/>
            <a:ext cx="457200" cy="27432"/>
          </a:xfrm>
          <a:prstGeom prst="rect">
            <a:avLst/>
          </a:prstGeom>
          <a:solidFill>
            <a:srgbClr val="1E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3703320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0E1B2E"/>
                </a:solidFill>
                <a:latin typeface="Segoe UI" panose="020B0502040204020203"/>
              </a:rPr>
              <a:t>Glue code everywhere</a:t>
            </a:r>
            <a:endParaRPr sz="1900" b="1" i="0">
              <a:solidFill>
                <a:srgbClr val="0E1B2E"/>
              </a:solidFill>
              <a:latin typeface="Segoe UI" panose="020B050204020402020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43000" y="4343400"/>
            <a:ext cx="28346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455063"/>
                </a:solidFill>
                <a:latin typeface="Segoe UI" panose="020B0502040204020203"/>
              </a:rPr>
              <a:t>Teams wire APIs together with brittle scripts that only engineers can read or maintain.</a:t>
            </a:r>
            <a:endParaRPr sz="1400" b="0" i="0">
              <a:solidFill>
                <a:srgbClr val="455063"/>
              </a:solidFill>
              <a:latin typeface="Segoe UI" panose="020B0502040204020203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526280" y="2514600"/>
            <a:ext cx="342900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  <a:effectLst>
            <a:outerShdw blurRad="90000" dist="30000" dir="5400000" rotWithShape="0">
              <a:srgbClr val="0E1B2E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2834640"/>
            <a:ext cx="914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3B5BDB"/>
                </a:solidFill>
                <a:latin typeface="Georgia" panose="02040502050405020303"/>
              </a:rPr>
              <a:t>02</a:t>
            </a:r>
            <a:endParaRPr sz="3000" b="1" i="0">
              <a:solidFill>
                <a:srgbClr val="3B5BDB"/>
              </a:solidFill>
              <a:latin typeface="Georgia" panose="02040502050405020303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846320" y="3520440"/>
            <a:ext cx="457200" cy="27432"/>
          </a:xfrm>
          <a:prstGeom prst="rect">
            <a:avLst/>
          </a:prstGeom>
          <a:solidFill>
            <a:srgbClr val="1E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3703320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0E1B2E"/>
                </a:solidFill>
                <a:latin typeface="Segoe UI" panose="020B0502040204020203"/>
              </a:rPr>
              <a:t>No visibility</a:t>
            </a:r>
            <a:endParaRPr sz="1900" b="1" i="0">
              <a:solidFill>
                <a:srgbClr val="0E1B2E"/>
              </a:solidFill>
              <a:latin typeface="Segoe UI" panose="020B0502040204020203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846320" y="4343400"/>
            <a:ext cx="28346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455063"/>
                </a:solidFill>
                <a:latin typeface="Segoe UI" panose="020B0502040204020203"/>
              </a:rPr>
              <a:t>When a job fails overnight, nobody can see which step broke — or why it broke.</a:t>
            </a:r>
            <a:endParaRPr sz="1400" b="0" i="0">
              <a:solidFill>
                <a:srgbClr val="455063"/>
              </a:solidFill>
              <a:latin typeface="Segoe UI" panose="020B0502040204020203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229600" y="2514600"/>
            <a:ext cx="342900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  <a:effectLst>
            <a:outerShdw blurRad="90000" dist="30000" dir="5400000" rotWithShape="0">
              <a:srgbClr val="0E1B2E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9640" y="2834640"/>
            <a:ext cx="914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3B5BDB"/>
                </a:solidFill>
                <a:latin typeface="Georgia" panose="02040502050405020303"/>
              </a:rPr>
              <a:t>03</a:t>
            </a:r>
            <a:endParaRPr sz="3000" b="1" i="0">
              <a:solidFill>
                <a:srgbClr val="3B5BDB"/>
              </a:solidFill>
              <a:latin typeface="Georgia" panose="02040502050405020303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549640" y="3520440"/>
            <a:ext cx="457200" cy="27432"/>
          </a:xfrm>
          <a:prstGeom prst="rect">
            <a:avLst/>
          </a:prstGeom>
          <a:solidFill>
            <a:srgbClr val="1E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3703320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0E1B2E"/>
                </a:solidFill>
                <a:latin typeface="Segoe UI" panose="020B0502040204020203"/>
              </a:rPr>
              <a:t>Expensive &amp; locked-in</a:t>
            </a:r>
            <a:endParaRPr sz="1900" b="1" i="0">
              <a:solidFill>
                <a:srgbClr val="0E1B2E"/>
              </a:solidFill>
              <a:latin typeface="Segoe UI" panose="020B0502040204020203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549640" y="4343400"/>
            <a:ext cx="28346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455063"/>
                </a:solidFill>
                <a:latin typeface="Segoe UI" panose="020B0502040204020203"/>
              </a:rPr>
              <a:t>Existing no-code platforms are cloud-locked, paywalled, and require live API keys to even demo.</a:t>
            </a:r>
            <a:endParaRPr sz="1400" b="0" i="0">
              <a:solidFill>
                <a:srgbClr val="455063"/>
              </a:solidFill>
              <a:latin typeface="Segoe UI" panose="020B0502040204020203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33856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A93A6"/>
                </a:solidFill>
                <a:latin typeface="Consolas" panose="020B0609020204030204"/>
              </a:rPr>
              <a:t>02</a:t>
            </a:r>
            <a:endParaRPr sz="1100" b="0" i="0">
              <a:solidFill>
                <a:srgbClr val="8A93A6"/>
              </a:solidFill>
              <a:latin typeface="Consolas" panose="020B0609020204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22960" y="640080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 spc="120">
                <a:solidFill>
                  <a:srgbClr val="8A93A6"/>
                </a:solidFill>
                <a:latin typeface="Segoe UI" panose="020B0502040204020203"/>
              </a:rPr>
              <a:t>FlowForge</a:t>
            </a:r>
            <a:endParaRPr sz="1100" b="0" i="0" spc="120">
              <a:solidFill>
                <a:srgbClr val="8A93A6"/>
              </a:solidFill>
              <a:latin typeface="Segoe UI" panose="020B0502040204020203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airplane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260">
                <a:solidFill>
                  <a:srgbClr val="1EA68C"/>
                </a:solidFill>
                <a:latin typeface="Segoe UI" panose="020B0502040204020203"/>
              </a:rPr>
              <a:t>OUR SOLUTION</a:t>
            </a:r>
            <a:endParaRPr sz="1250" b="1" i="0" spc="260">
              <a:solidFill>
                <a:srgbClr val="1EA68C"/>
              </a:solidFill>
              <a:latin typeface="Segoe UI" panose="020B0502040204020203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41248" y="1024128"/>
            <a:ext cx="548640" cy="27432"/>
          </a:xfrm>
          <a:prstGeom prst="rect">
            <a:avLst/>
          </a:prstGeom>
          <a:solidFill>
            <a:srgbClr val="1E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14300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0E1B2E"/>
                </a:solidFill>
                <a:latin typeface="Georgia" panose="02040502050405020303"/>
              </a:rPr>
              <a:t>Drag. Connect. Run. Watch it happen.</a:t>
            </a:r>
            <a:endParaRPr sz="3800" b="1" i="0">
              <a:solidFill>
                <a:srgbClr val="0E1B2E"/>
              </a:solidFill>
              <a:latin typeface="Georgia" panose="02040502050405020303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22960" y="2468880"/>
            <a:ext cx="49834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  <a:effectLst>
            <a:outerShdw blurRad="90000" dist="30000" dir="5400000" rotWithShape="0">
              <a:srgbClr val="0E1B2E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743200"/>
            <a:ext cx="82296" cy="1325880"/>
          </a:xfrm>
          <a:prstGeom prst="rect">
            <a:avLst/>
          </a:prstGeom>
          <a:solidFill>
            <a:srgbClr val="2B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743200"/>
            <a:ext cx="4389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0E1B2E"/>
                </a:solidFill>
                <a:latin typeface="Segoe UI" panose="020B0502040204020203"/>
              </a:rPr>
              <a:t>Visual canvas</a:t>
            </a:r>
            <a:endParaRPr sz="2100" b="1" i="0">
              <a:solidFill>
                <a:srgbClr val="0E1B2E"/>
              </a:solidFill>
              <a:latin typeface="Segoe UI" panose="020B0502040204020203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234440" y="3383280"/>
            <a:ext cx="4389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455063"/>
                </a:solidFill>
                <a:latin typeface="Segoe UI" panose="020B0502040204020203"/>
              </a:rPr>
              <a:t>An infinite canvas — drag nodes, connect handles, and branch logic without writing a line of code.</a:t>
            </a:r>
            <a:endParaRPr sz="1350" b="0" i="0">
              <a:solidFill>
                <a:srgbClr val="455063"/>
              </a:solidFill>
              <a:latin typeface="Segoe UI" panose="020B0502040204020203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355080" y="2468880"/>
            <a:ext cx="49834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  <a:effectLst>
            <a:outerShdw blurRad="90000" dist="30000" dir="5400000" rotWithShape="0">
              <a:srgbClr val="0E1B2E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743200"/>
            <a:ext cx="82296" cy="1325880"/>
          </a:xfrm>
          <a:prstGeom prst="rect">
            <a:avLst/>
          </a:prstGeom>
          <a:solidFill>
            <a:srgbClr val="1E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2743200"/>
            <a:ext cx="4389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0E1B2E"/>
                </a:solidFill>
                <a:latin typeface="Segoe UI" panose="020B0502040204020203"/>
              </a:rPr>
              <a:t>Real execution</a:t>
            </a:r>
            <a:endParaRPr sz="2100" b="1" i="0">
              <a:solidFill>
                <a:srgbClr val="0E1B2E"/>
              </a:solidFill>
              <a:latin typeface="Segoe UI" panose="020B0502040204020203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766560" y="3383280"/>
            <a:ext cx="4389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455063"/>
                </a:solidFill>
                <a:latin typeface="Segoe UI" panose="020B0502040204020203"/>
              </a:rPr>
              <a:t>A topological DAG engine runs the graph live; every node lights up as it executes in real time.</a:t>
            </a:r>
            <a:endParaRPr sz="1350" b="0" i="0">
              <a:solidFill>
                <a:srgbClr val="455063"/>
              </a:solidFill>
              <a:latin typeface="Segoe UI" panose="020B0502040204020203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22960" y="4526280"/>
            <a:ext cx="49834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  <a:effectLst>
            <a:outerShdw blurRad="90000" dist="30000" dir="5400000" rotWithShape="0">
              <a:srgbClr val="0E1B2E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4800600"/>
            <a:ext cx="82296" cy="1325880"/>
          </a:xfrm>
          <a:prstGeom prst="rect">
            <a:avLst/>
          </a:prstGeom>
          <a:solidFill>
            <a:srgbClr val="A8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4800600"/>
            <a:ext cx="4389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0E1B2E"/>
                </a:solidFill>
                <a:latin typeface="Segoe UI" panose="020B0502040204020203"/>
              </a:rPr>
              <a:t>Full observability</a:t>
            </a:r>
            <a:endParaRPr sz="2100" b="1" i="0">
              <a:solidFill>
                <a:srgbClr val="0E1B2E"/>
              </a:solidFill>
              <a:latin typeface="Segoe UI" panose="020B0502040204020203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234440" y="5440680"/>
            <a:ext cx="4389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455063"/>
                </a:solidFill>
                <a:latin typeface="Segoe UI" panose="020B0502040204020203"/>
              </a:rPr>
              <a:t>Timeline, streaming logs, and per-node input / output for every run, plus an analytics dashboard.</a:t>
            </a:r>
            <a:endParaRPr sz="1350" b="0" i="0">
              <a:solidFill>
                <a:srgbClr val="455063"/>
              </a:solidFill>
              <a:latin typeface="Segoe UI" panose="020B0502040204020203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355080" y="4526280"/>
            <a:ext cx="49834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  <a:effectLst>
            <a:outerShdw blurRad="90000" dist="30000" dir="5400000" rotWithShape="0">
              <a:srgbClr val="0E1B2E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5080" y="4800600"/>
            <a:ext cx="82296" cy="132588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4800600"/>
            <a:ext cx="4389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0E1B2E"/>
                </a:solidFill>
                <a:latin typeface="Segoe UI" panose="020B0502040204020203"/>
              </a:rPr>
              <a:t>100% offline</a:t>
            </a:r>
            <a:endParaRPr sz="2100" b="1" i="0">
              <a:solidFill>
                <a:srgbClr val="0E1B2E"/>
              </a:solidFill>
              <a:latin typeface="Segoe UI" panose="020B0502040204020203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766560" y="5440680"/>
            <a:ext cx="4389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455063"/>
                </a:solidFill>
                <a:latin typeface="Segoe UI" panose="020B0502040204020203"/>
              </a:rPr>
              <a:t>No database, no paid keys. AI nodes fall back to a deterministic on-device mock so demos never break.</a:t>
            </a:r>
            <a:endParaRPr sz="1350" b="0" i="0">
              <a:solidFill>
                <a:srgbClr val="455063"/>
              </a:solidFill>
              <a:latin typeface="Segoe UI" panose="020B0502040204020203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33856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A93A6"/>
                </a:solidFill>
                <a:latin typeface="Consolas" panose="020B0609020204030204"/>
              </a:rPr>
              <a:t>03</a:t>
            </a:r>
            <a:endParaRPr sz="1100" b="0" i="0">
              <a:solidFill>
                <a:srgbClr val="8A93A6"/>
              </a:solidFill>
              <a:latin typeface="Consolas" panose="020B0609020204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22960" y="640080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 spc="120">
                <a:solidFill>
                  <a:srgbClr val="8A93A6"/>
                </a:solidFill>
                <a:latin typeface="Segoe UI" panose="020B0502040204020203"/>
              </a:rPr>
              <a:t>FlowForge</a:t>
            </a:r>
            <a:endParaRPr sz="1100" b="0" i="0" spc="120">
              <a:solidFill>
                <a:srgbClr val="8A93A6"/>
              </a:solidFill>
              <a:latin typeface="Segoe UI" panose="020B0502040204020203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airplane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260">
                <a:solidFill>
                  <a:srgbClr val="3B5BDB"/>
                </a:solidFill>
                <a:latin typeface="Segoe UI" panose="020B0502040204020203"/>
              </a:rPr>
              <a:t>THE NODE LIBRARY</a:t>
            </a:r>
            <a:endParaRPr sz="1250" b="1" i="0" spc="260">
              <a:solidFill>
                <a:srgbClr val="3B5BDB"/>
              </a:solidFill>
              <a:latin typeface="Segoe UI" panose="020B0502040204020203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41248" y="1024128"/>
            <a:ext cx="548640" cy="27432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14300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0E1B2E"/>
                </a:solidFill>
                <a:latin typeface="Georgia" panose="02040502050405020303"/>
              </a:rPr>
              <a:t>20 executable nodes. 5 categories. One registry.</a:t>
            </a:r>
            <a:endParaRPr sz="3400" b="1" i="0">
              <a:solidFill>
                <a:srgbClr val="0E1B2E"/>
              </a:solidFill>
              <a:latin typeface="Georgia" panose="02040502050405020303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22960" y="2423160"/>
            <a:ext cx="21031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  <a:effectLst>
            <a:outerShdw blurRad="90000" dist="30000" dir="5400000" rotWithShape="0">
              <a:srgbClr val="0E1B2E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423160"/>
            <a:ext cx="2103120" cy="566928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697480"/>
            <a:ext cx="2103120" cy="29260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423160"/>
            <a:ext cx="21031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 spc="120">
                <a:solidFill>
                  <a:srgbClr val="FFFFFF"/>
                </a:solidFill>
                <a:latin typeface="Segoe UI" panose="020B0502040204020203"/>
              </a:rPr>
              <a:t>TRIGGERS</a:t>
            </a:r>
            <a:endParaRPr sz="1450" b="1" i="0" spc="120">
              <a:solidFill>
                <a:srgbClr val="FFFFFF"/>
              </a:solidFill>
              <a:latin typeface="Segoe UI" panose="020B050204020402020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60" y="3200400"/>
            <a:ext cx="210312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455063"/>
                </a:solidFill>
                <a:latin typeface="Segoe UI" panose="020B0502040204020203"/>
              </a:rPr>
              <a:t>Manual</a:t>
            </a:r>
            <a:endParaRPr sz="1400" b="0" i="0">
              <a:solidFill>
                <a:srgbClr val="455063"/>
              </a:solidFill>
              <a:latin typeface="Segoe UI" panose="020B0502040204020203"/>
            </a:endParaRPr>
          </a:p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455063"/>
                </a:solidFill>
                <a:latin typeface="Segoe UI" panose="020B0502040204020203"/>
              </a:rPr>
              <a:t>Webhook</a:t>
            </a:r>
            <a:endParaRPr sz="1400" b="0" i="0">
              <a:solidFill>
                <a:srgbClr val="455063"/>
              </a:solidFill>
              <a:latin typeface="Segoe UI" panose="020B0502040204020203"/>
            </a:endParaRPr>
          </a:p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455063"/>
                </a:solidFill>
                <a:latin typeface="Segoe UI" panose="020B0502040204020203"/>
              </a:rPr>
              <a:t>Schedule</a:t>
            </a:r>
            <a:endParaRPr sz="1400" b="0" i="0">
              <a:solidFill>
                <a:srgbClr val="455063"/>
              </a:solidFill>
              <a:latin typeface="Segoe UI" panose="020B0502040204020203"/>
            </a:endParaRPr>
          </a:p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455063"/>
                </a:solidFill>
                <a:latin typeface="Segoe UI" panose="020B0502040204020203"/>
              </a:rPr>
              <a:t>Interval</a:t>
            </a:r>
            <a:endParaRPr sz="1400" b="0" i="0">
              <a:solidFill>
                <a:srgbClr val="455063"/>
              </a:solidFill>
              <a:latin typeface="Segoe UI" panose="020B0502040204020203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035808" y="2423160"/>
            <a:ext cx="21031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  <a:effectLst>
            <a:outerShdw blurRad="90000" dist="30000" dir="5400000" rotWithShape="0">
              <a:srgbClr val="0E1B2E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035808" y="2423160"/>
            <a:ext cx="2103120" cy="566928"/>
          </a:xfrm>
          <a:prstGeom prst="roundRect">
            <a:avLst/>
          </a:prstGeom>
          <a:solidFill>
            <a:srgbClr val="2B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035808" y="2697480"/>
            <a:ext cx="2103120" cy="292608"/>
          </a:xfrm>
          <a:prstGeom prst="rect">
            <a:avLst/>
          </a:prstGeom>
          <a:solidFill>
            <a:srgbClr val="2B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35808" y="2423160"/>
            <a:ext cx="21031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 spc="120">
                <a:solidFill>
                  <a:srgbClr val="FFFFFF"/>
                </a:solidFill>
                <a:latin typeface="Segoe UI" panose="020B0502040204020203"/>
              </a:rPr>
              <a:t>ACTIONS</a:t>
            </a:r>
            <a:endParaRPr sz="1450" b="1" i="0" spc="120">
              <a:solidFill>
                <a:srgbClr val="FFFFFF"/>
              </a:solidFill>
              <a:latin typeface="Segoe UI" panose="020B0502040204020203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035808" y="3200400"/>
            <a:ext cx="210312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455063"/>
                </a:solidFill>
                <a:latin typeface="Segoe UI" panose="020B0502040204020203"/>
              </a:rPr>
              <a:t>HTTP</a:t>
            </a:r>
            <a:endParaRPr sz="1400" b="0" i="0">
              <a:solidFill>
                <a:srgbClr val="455063"/>
              </a:solidFill>
              <a:latin typeface="Segoe UI" panose="020B0502040204020203"/>
            </a:endParaRPr>
          </a:p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455063"/>
                </a:solidFill>
                <a:latin typeface="Segoe UI" panose="020B0502040204020203"/>
              </a:rPr>
              <a:t>Email</a:t>
            </a:r>
            <a:endParaRPr sz="1400" b="0" i="0">
              <a:solidFill>
                <a:srgbClr val="455063"/>
              </a:solidFill>
              <a:latin typeface="Segoe UI" panose="020B0502040204020203"/>
            </a:endParaRPr>
          </a:p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455063"/>
                </a:solidFill>
                <a:latin typeface="Segoe UI" panose="020B0502040204020203"/>
              </a:rPr>
              <a:t>Log</a:t>
            </a:r>
            <a:endParaRPr sz="1400" b="0" i="0">
              <a:solidFill>
                <a:srgbClr val="455063"/>
              </a:solidFill>
              <a:latin typeface="Segoe UI" panose="020B0502040204020203"/>
            </a:endParaRPr>
          </a:p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455063"/>
                </a:solidFill>
                <a:latin typeface="Segoe UI" panose="020B0502040204020203"/>
              </a:rPr>
              <a:t>Delay</a:t>
            </a:r>
            <a:endParaRPr sz="1400" b="0" i="0">
              <a:solidFill>
                <a:srgbClr val="455063"/>
              </a:solidFill>
              <a:latin typeface="Segoe UI" panose="020B0502040204020203"/>
            </a:endParaRPr>
          </a:p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455063"/>
                </a:solidFill>
                <a:latin typeface="Segoe UI" panose="020B0502040204020203"/>
              </a:rPr>
              <a:t>Write File</a:t>
            </a:r>
            <a:endParaRPr sz="1400" b="0" i="0">
              <a:solidFill>
                <a:srgbClr val="455063"/>
              </a:solidFill>
              <a:latin typeface="Segoe UI" panose="020B0502040204020203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248656" y="2423160"/>
            <a:ext cx="21031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  <a:effectLst>
            <a:outerShdw blurRad="90000" dist="30000" dir="5400000" rotWithShape="0">
              <a:srgbClr val="0E1B2E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248656" y="2423160"/>
            <a:ext cx="2103120" cy="566928"/>
          </a:xfrm>
          <a:prstGeom prst="roundRect">
            <a:avLst/>
          </a:prstGeom>
          <a:solidFill>
            <a:srgbClr val="B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248656" y="2697480"/>
            <a:ext cx="2103120" cy="292608"/>
          </a:xfrm>
          <a:prstGeom prst="rect">
            <a:avLst/>
          </a:prstGeom>
          <a:solidFill>
            <a:srgbClr val="B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48656" y="2423160"/>
            <a:ext cx="21031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 spc="120">
                <a:solidFill>
                  <a:srgbClr val="FFFFFF"/>
                </a:solidFill>
                <a:latin typeface="Segoe UI" panose="020B0502040204020203"/>
              </a:rPr>
              <a:t>LOGIC</a:t>
            </a:r>
            <a:endParaRPr sz="1450" b="1" i="0" spc="120">
              <a:solidFill>
                <a:srgbClr val="FFFFFF"/>
              </a:solidFill>
              <a:latin typeface="Segoe UI" panose="020B0502040204020203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248656" y="3200400"/>
            <a:ext cx="210312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455063"/>
                </a:solidFill>
                <a:latin typeface="Segoe UI" panose="020B0502040204020203"/>
              </a:rPr>
              <a:t>If / Else</a:t>
            </a:r>
            <a:endParaRPr sz="1400" b="0" i="0">
              <a:solidFill>
                <a:srgbClr val="455063"/>
              </a:solidFill>
              <a:latin typeface="Segoe UI" panose="020B0502040204020203"/>
            </a:endParaRPr>
          </a:p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455063"/>
                </a:solidFill>
                <a:latin typeface="Segoe UI" panose="020B0502040204020203"/>
              </a:rPr>
              <a:t>Switch</a:t>
            </a:r>
            <a:endParaRPr sz="1400" b="0" i="0">
              <a:solidFill>
                <a:srgbClr val="455063"/>
              </a:solidFill>
              <a:latin typeface="Segoe UI" panose="020B0502040204020203"/>
            </a:endParaRPr>
          </a:p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455063"/>
                </a:solidFill>
                <a:latin typeface="Segoe UI" panose="020B0502040204020203"/>
              </a:rPr>
              <a:t>Filter</a:t>
            </a:r>
            <a:endParaRPr sz="1400" b="0" i="0">
              <a:solidFill>
                <a:srgbClr val="455063"/>
              </a:solidFill>
              <a:latin typeface="Segoe UI" panose="020B0502040204020203"/>
            </a:endParaRPr>
          </a:p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455063"/>
                </a:solidFill>
                <a:latin typeface="Segoe UI" panose="020B0502040204020203"/>
              </a:rPr>
              <a:t>Merge</a:t>
            </a:r>
            <a:endParaRPr sz="1400" b="0" i="0">
              <a:solidFill>
                <a:srgbClr val="455063"/>
              </a:solidFill>
              <a:latin typeface="Segoe UI" panose="020B0502040204020203"/>
            </a:endParaRPr>
          </a:p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455063"/>
                </a:solidFill>
                <a:latin typeface="Segoe UI" panose="020B0502040204020203"/>
              </a:rPr>
              <a:t>Loop</a:t>
            </a:r>
            <a:endParaRPr sz="1400" b="0" i="0">
              <a:solidFill>
                <a:srgbClr val="455063"/>
              </a:solidFill>
              <a:latin typeface="Segoe UI" panose="020B0502040204020203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7461504" y="2423160"/>
            <a:ext cx="21031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  <a:effectLst>
            <a:outerShdw blurRad="90000" dist="30000" dir="5400000" rotWithShape="0">
              <a:srgbClr val="0E1B2E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61504" y="2423160"/>
            <a:ext cx="2103120" cy="566928"/>
          </a:xfrm>
          <a:prstGeom prst="roundRect">
            <a:avLst/>
          </a:prstGeom>
          <a:solidFill>
            <a:srgbClr val="A8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61504" y="2697480"/>
            <a:ext cx="2103120" cy="292608"/>
          </a:xfrm>
          <a:prstGeom prst="rect">
            <a:avLst/>
          </a:prstGeom>
          <a:solidFill>
            <a:srgbClr val="A8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61504" y="2423160"/>
            <a:ext cx="21031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 spc="120">
                <a:solidFill>
                  <a:srgbClr val="FFFFFF"/>
                </a:solidFill>
                <a:latin typeface="Segoe UI" panose="020B0502040204020203"/>
              </a:rPr>
              <a:t>DATA</a:t>
            </a:r>
            <a:endParaRPr sz="1450" b="1" i="0" spc="120">
              <a:solidFill>
                <a:srgbClr val="FFFFFF"/>
              </a:solidFill>
              <a:latin typeface="Segoe UI" panose="020B0502040204020203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461504" y="3200400"/>
            <a:ext cx="210312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455063"/>
                </a:solidFill>
                <a:latin typeface="Segoe UI" panose="020B0502040204020203"/>
              </a:rPr>
              <a:t>Set</a:t>
            </a:r>
            <a:endParaRPr sz="1400" b="0" i="0">
              <a:solidFill>
                <a:srgbClr val="455063"/>
              </a:solidFill>
              <a:latin typeface="Segoe UI" panose="020B0502040204020203"/>
            </a:endParaRPr>
          </a:p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455063"/>
                </a:solidFill>
                <a:latin typeface="Segoe UI" panose="020B0502040204020203"/>
              </a:rPr>
              <a:t>Transform</a:t>
            </a:r>
            <a:endParaRPr sz="1400" b="0" i="0">
              <a:solidFill>
                <a:srgbClr val="455063"/>
              </a:solidFill>
              <a:latin typeface="Segoe UI" panose="020B0502040204020203"/>
            </a:endParaRPr>
          </a:p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455063"/>
                </a:solidFill>
                <a:latin typeface="Segoe UI" panose="020B0502040204020203"/>
              </a:rPr>
              <a:t>Code</a:t>
            </a:r>
            <a:endParaRPr sz="1400" b="0" i="0">
              <a:solidFill>
                <a:srgbClr val="455063"/>
              </a:solidFill>
              <a:latin typeface="Segoe UI" panose="020B0502040204020203"/>
            </a:endParaRPr>
          </a:p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455063"/>
                </a:solidFill>
                <a:latin typeface="Segoe UI" panose="020B0502040204020203"/>
              </a:rPr>
              <a:t>Template</a:t>
            </a:r>
            <a:endParaRPr sz="1400" b="0" i="0">
              <a:solidFill>
                <a:srgbClr val="455063"/>
              </a:solidFill>
              <a:latin typeface="Segoe UI" panose="020B0502040204020203"/>
            </a:endParaRPr>
          </a:p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455063"/>
                </a:solidFill>
                <a:latin typeface="Segoe UI" panose="020B0502040204020203"/>
              </a:rPr>
              <a:t>Math</a:t>
            </a:r>
            <a:endParaRPr sz="1400" b="0" i="0">
              <a:solidFill>
                <a:srgbClr val="455063"/>
              </a:solidFill>
              <a:latin typeface="Segoe UI" panose="020B0502040204020203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674352" y="2423160"/>
            <a:ext cx="21031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  <a:effectLst>
            <a:outerShdw blurRad="90000" dist="30000" dir="5400000" rotWithShape="0">
              <a:srgbClr val="0E1B2E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674352" y="2423160"/>
            <a:ext cx="2103120" cy="566928"/>
          </a:xfrm>
          <a:prstGeom prst="roundRect">
            <a:avLst/>
          </a:prstGeom>
          <a:solidFill>
            <a:srgbClr val="1E8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674352" y="2697480"/>
            <a:ext cx="2103120" cy="292608"/>
          </a:xfrm>
          <a:prstGeom prst="rect">
            <a:avLst/>
          </a:prstGeom>
          <a:solidFill>
            <a:srgbClr val="1E8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74352" y="2423160"/>
            <a:ext cx="21031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 spc="120">
                <a:solidFill>
                  <a:srgbClr val="FFFFFF"/>
                </a:solidFill>
                <a:latin typeface="Segoe UI" panose="020B0502040204020203"/>
              </a:rPr>
              <a:t>AI</a:t>
            </a:r>
            <a:endParaRPr sz="1450" b="1" i="0" spc="120">
              <a:solidFill>
                <a:srgbClr val="FFFFFF"/>
              </a:solidFill>
              <a:latin typeface="Segoe UI" panose="020B0502040204020203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674352" y="3200400"/>
            <a:ext cx="210312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455063"/>
                </a:solidFill>
                <a:latin typeface="Segoe UI" panose="020B0502040204020203"/>
              </a:rPr>
              <a:t>Generate</a:t>
            </a:r>
            <a:endParaRPr sz="1400" b="0" i="0">
              <a:solidFill>
                <a:srgbClr val="455063"/>
              </a:solidFill>
              <a:latin typeface="Segoe UI" panose="020B0502040204020203"/>
            </a:endParaRPr>
          </a:p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455063"/>
                </a:solidFill>
                <a:latin typeface="Segoe UI" panose="020B0502040204020203"/>
              </a:rPr>
              <a:t>— summarize</a:t>
            </a:r>
            <a:endParaRPr sz="1400" b="0" i="0">
              <a:solidFill>
                <a:srgbClr val="455063"/>
              </a:solidFill>
              <a:latin typeface="Segoe UI" panose="020B0502040204020203"/>
            </a:endParaRPr>
          </a:p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455063"/>
                </a:solidFill>
                <a:latin typeface="Segoe UI" panose="020B0502040204020203"/>
              </a:rPr>
              <a:t>— classify</a:t>
            </a:r>
            <a:endParaRPr sz="1400" b="0" i="0">
              <a:solidFill>
                <a:srgbClr val="455063"/>
              </a:solidFill>
              <a:latin typeface="Segoe UI" panose="020B0502040204020203"/>
            </a:endParaRPr>
          </a:p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455063"/>
                </a:solidFill>
                <a:latin typeface="Segoe UI" panose="020B0502040204020203"/>
              </a:rPr>
              <a:t>— extract</a:t>
            </a:r>
            <a:endParaRPr sz="1400" b="0" i="0">
              <a:solidFill>
                <a:srgbClr val="455063"/>
              </a:solidFill>
              <a:latin typeface="Segoe UI" panose="020B0502040204020203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22960" y="55321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1">
                <a:solidFill>
                  <a:srgbClr val="8A93A6"/>
                </a:solidFill>
                <a:latin typeface="Segoe UI" panose="020B0502040204020203"/>
              </a:rPr>
              <a:t>Adding a node = one declarative definition + one executor. The palette, inspector, validation, command palette, and engine all pick it up automatically.</a:t>
            </a:r>
            <a:endParaRPr sz="1350" b="0" i="1">
              <a:solidFill>
                <a:srgbClr val="8A93A6"/>
              </a:solidFill>
              <a:latin typeface="Segoe UI" panose="020B0502040204020203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133856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A93A6"/>
                </a:solidFill>
                <a:latin typeface="Consolas" panose="020B0609020204030204"/>
              </a:rPr>
              <a:t>04</a:t>
            </a:r>
            <a:endParaRPr sz="1100" b="0" i="0">
              <a:solidFill>
                <a:srgbClr val="8A93A6"/>
              </a:solidFill>
              <a:latin typeface="Consolas" panose="020B06090202040302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22960" y="640080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 spc="120">
                <a:solidFill>
                  <a:srgbClr val="8A93A6"/>
                </a:solidFill>
                <a:latin typeface="Segoe UI" panose="020B0502040204020203"/>
              </a:rPr>
              <a:t>FlowForge</a:t>
            </a:r>
            <a:endParaRPr sz="1100" b="0" i="0" spc="120">
              <a:solidFill>
                <a:srgbClr val="8A93A6"/>
              </a:solidFill>
              <a:latin typeface="Segoe UI" panose="020B0502040204020203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airplane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260">
                <a:solidFill>
                  <a:srgbClr val="3B5BDB"/>
                </a:solidFill>
                <a:latin typeface="Segoe UI" panose="020B0502040204020203"/>
              </a:rPr>
              <a:t>THE ENGINE</a:t>
            </a:r>
            <a:endParaRPr sz="1250" b="1" i="0" spc="260">
              <a:solidFill>
                <a:srgbClr val="3B5BDB"/>
              </a:solidFill>
              <a:latin typeface="Segoe UI" panose="020B0502040204020203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41248" y="1024128"/>
            <a:ext cx="548640" cy="27432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14300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0E1B2E"/>
                </a:solidFill>
                <a:latin typeface="Georgia" panose="02040502050405020303"/>
              </a:rPr>
              <a:t>A real DAG runner — built from scratch.</a:t>
            </a:r>
            <a:endParaRPr sz="3600" b="1" i="0">
              <a:solidFill>
                <a:srgbClr val="0E1B2E"/>
              </a:solidFill>
              <a:latin typeface="Georgia" panose="02040502050405020303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22960" y="2423160"/>
            <a:ext cx="525780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  <a:effectLst>
            <a:outerShdw blurRad="90000" dist="30000" dir="5400000" rotWithShape="0">
              <a:srgbClr val="0E1B2E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697480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3B5BDB"/>
                </a:solidFill>
                <a:latin typeface="Consolas" panose="020B0609020204030204"/>
              </a:rPr>
              <a:t>1  Analyze</a:t>
            </a:r>
            <a:endParaRPr sz="1700" b="1" i="0">
              <a:solidFill>
                <a:srgbClr val="3B5BDB"/>
              </a:solidFill>
              <a:latin typeface="Consolas" panose="020B0609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43000" y="3000248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455063"/>
                </a:solidFill>
                <a:latin typeface="Segoe UI" panose="020B0502040204020203"/>
              </a:rPr>
              <a:t>Kahn's topological sort with cycle detection — invalid graphs never run.</a:t>
            </a:r>
            <a:endParaRPr sz="1300" b="0" i="0">
              <a:solidFill>
                <a:srgbClr val="455063"/>
              </a:solidFill>
              <a:latin typeface="Segoe UI" panose="020B0502040204020203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43000" y="3502152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3B5BDB"/>
                </a:solidFill>
                <a:latin typeface="Consolas" panose="020B0609020204030204"/>
              </a:rPr>
              <a:t>2  Route</a:t>
            </a:r>
            <a:endParaRPr sz="1700" b="1" i="0">
              <a:solidFill>
                <a:srgbClr val="3B5BDB"/>
              </a:solidFill>
              <a:latin typeface="Consolas" panose="020B0609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70305" y="377698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455063"/>
                </a:solidFill>
                <a:latin typeface="Segoe UI" panose="020B0502040204020203"/>
              </a:rPr>
              <a:t>Edge-activation branch routing; untaken branches are genuinely skipped.</a:t>
            </a:r>
            <a:endParaRPr sz="1300" b="0" i="0">
              <a:solidFill>
                <a:srgbClr val="455063"/>
              </a:solidFill>
              <a:latin typeface="Segoe UI" panose="020B0502040204020203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43000" y="4306824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3B5BDB"/>
                </a:solidFill>
                <a:latin typeface="Consolas" panose="020B0609020204030204"/>
              </a:rPr>
              <a:t>3  Execute</a:t>
            </a:r>
            <a:endParaRPr sz="1700" b="1" i="0">
              <a:solidFill>
                <a:srgbClr val="3B5BDB"/>
              </a:solidFill>
              <a:latin typeface="Consolas" panose="020B0609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70305" y="4578477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455063"/>
                </a:solidFill>
                <a:latin typeface="Segoe UI" panose="020B0502040204020203"/>
              </a:rPr>
              <a:t>Nodes run in order: real HTTP, templating, sandboxed code, and AI.</a:t>
            </a:r>
            <a:endParaRPr sz="1300" b="0" i="0">
              <a:solidFill>
                <a:srgbClr val="455063"/>
              </a:solidFill>
              <a:latin typeface="Segoe UI" panose="020B0502040204020203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43000" y="5111496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3B5BDB"/>
                </a:solidFill>
                <a:latin typeface="Consolas" panose="020B0609020204030204"/>
              </a:rPr>
              <a:t>4  Observe</a:t>
            </a:r>
            <a:endParaRPr sz="1700" b="1" i="0">
              <a:solidFill>
                <a:srgbClr val="3B5BDB"/>
              </a:solidFill>
              <a:latin typeface="Consolas" panose="020B0609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70305" y="5331079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455063"/>
                </a:solidFill>
                <a:latin typeface="Segoe UI" panose="020B0502040204020203"/>
              </a:rPr>
              <a:t>Live status, logs, and per-node I/O stream to the UI and run history.</a:t>
            </a:r>
            <a:endParaRPr sz="1300" b="0" i="0">
              <a:solidFill>
                <a:srgbClr val="455063"/>
              </a:solidFill>
              <a:latin typeface="Segoe UI" panose="020B0502040204020203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355080" y="2423160"/>
            <a:ext cx="4937760" cy="3520440"/>
          </a:xfrm>
          <a:prstGeom prst="roundRect">
            <a:avLst/>
          </a:prstGeom>
          <a:solidFill>
            <a:srgbClr val="EEF2FC"/>
          </a:solidFill>
          <a:ln w="12700">
            <a:solidFill>
              <a:srgbClr val="E4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5080" y="2423160"/>
            <a:ext cx="91440" cy="352044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2697480"/>
            <a:ext cx="4297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0E1B2E"/>
                </a:solidFill>
                <a:latin typeface="Segoe UI" panose="020B0502040204020203"/>
              </a:rPr>
              <a:t>One engine, two hosts</a:t>
            </a:r>
            <a:endParaRPr sz="1900" b="1" i="0">
              <a:solidFill>
                <a:srgbClr val="0E1B2E"/>
              </a:solidFill>
              <a:latin typeface="Segoe UI" panose="020B0502040204020203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720840" y="3392424"/>
            <a:ext cx="109728" cy="109728"/>
          </a:xfrm>
          <a:prstGeom prst="roundRect">
            <a:avLst/>
          </a:prstGeom>
          <a:solidFill>
            <a:srgbClr val="1E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7728" y="3337560"/>
            <a:ext cx="4160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455063"/>
                </a:solidFill>
                <a:latin typeface="Segoe UI" panose="020B0502040204020203"/>
              </a:rPr>
              <a:t>Identical semantics in-browser and headless via API / webhooks.</a:t>
            </a:r>
            <a:endParaRPr sz="1300" b="0" i="0">
              <a:solidFill>
                <a:srgbClr val="455063"/>
              </a:solidFill>
              <a:latin typeface="Segoe UI" panose="020B0502040204020203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720840" y="4014216"/>
            <a:ext cx="109728" cy="109728"/>
          </a:xfrm>
          <a:prstGeom prst="roundRect">
            <a:avLst/>
          </a:prstGeom>
          <a:solidFill>
            <a:srgbClr val="1E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67728" y="3959352"/>
            <a:ext cx="4160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455063"/>
                </a:solidFill>
                <a:latin typeface="Segoe UI" panose="020B0502040204020203"/>
              </a:rPr>
              <a:t>"Run from here" executes any node and its downstream subtree.</a:t>
            </a:r>
            <a:endParaRPr sz="1300" b="0" i="0">
              <a:solidFill>
                <a:srgbClr val="455063"/>
              </a:solidFill>
              <a:latin typeface="Segoe UI" panose="020B0502040204020203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720840" y="4636008"/>
            <a:ext cx="109728" cy="109728"/>
          </a:xfrm>
          <a:prstGeom prst="roundRect">
            <a:avLst/>
          </a:prstGeom>
          <a:solidFill>
            <a:srgbClr val="1E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7728" y="4581144"/>
            <a:ext cx="4160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455063"/>
                </a:solidFill>
                <a:latin typeface="Segoe UI" panose="020B0502040204020203"/>
              </a:rPr>
              <a:t>An {{expression}} language: eq, gt, contains, truthy, and more.</a:t>
            </a:r>
            <a:endParaRPr sz="1300" b="0" i="0">
              <a:solidFill>
                <a:srgbClr val="455063"/>
              </a:solidFill>
              <a:latin typeface="Segoe UI" panose="020B0502040204020203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720840" y="5257800"/>
            <a:ext cx="109728" cy="109728"/>
          </a:xfrm>
          <a:prstGeom prst="roundRect">
            <a:avLst/>
          </a:prstGeom>
          <a:solidFill>
            <a:srgbClr val="1E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67728" y="5202936"/>
            <a:ext cx="4160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455063"/>
                </a:solidFill>
                <a:latin typeface="Segoe UI" panose="020B0502040204020203"/>
              </a:rPr>
              <a:t>Error containment — one failing node never crashes the run.</a:t>
            </a:r>
            <a:endParaRPr sz="1300" b="0" i="0">
              <a:solidFill>
                <a:srgbClr val="455063"/>
              </a:solidFill>
              <a:latin typeface="Segoe UI" panose="020B0502040204020203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133856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A93A6"/>
                </a:solidFill>
                <a:latin typeface="Consolas" panose="020B0609020204030204"/>
              </a:rPr>
              <a:t>05</a:t>
            </a:r>
            <a:endParaRPr sz="1100" b="0" i="0">
              <a:solidFill>
                <a:srgbClr val="8A93A6"/>
              </a:solidFill>
              <a:latin typeface="Consolas" panose="020B060902020403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22960" y="640080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 spc="120">
                <a:solidFill>
                  <a:srgbClr val="8A93A6"/>
                </a:solidFill>
                <a:latin typeface="Segoe UI" panose="020B0502040204020203"/>
              </a:rPr>
              <a:t>FlowForge</a:t>
            </a:r>
            <a:endParaRPr sz="1100" b="0" i="0" spc="120">
              <a:solidFill>
                <a:srgbClr val="8A93A6"/>
              </a:solidFill>
              <a:latin typeface="Segoe UI" panose="020B0502040204020203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airplane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260">
                <a:solidFill>
                  <a:srgbClr val="A83A6E"/>
                </a:solidFill>
                <a:latin typeface="Segoe UI" panose="020B0502040204020203"/>
              </a:rPr>
              <a:t>BEYOND THE BASICS</a:t>
            </a:r>
            <a:endParaRPr sz="1250" b="1" i="0" spc="260">
              <a:solidFill>
                <a:srgbClr val="A83A6E"/>
              </a:solidFill>
              <a:latin typeface="Segoe UI" panose="020B0502040204020203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41248" y="1024128"/>
            <a:ext cx="548640" cy="27432"/>
          </a:xfrm>
          <a:prstGeom prst="rect">
            <a:avLst/>
          </a:prstGeom>
          <a:solidFill>
            <a:srgbClr val="A8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14300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0E1B2E"/>
                </a:solidFill>
                <a:latin typeface="Georgia" panose="02040502050405020303"/>
              </a:rPr>
              <a:t>Depth in every corner.</a:t>
            </a:r>
            <a:endParaRPr sz="3800" b="1" i="0">
              <a:solidFill>
                <a:srgbClr val="0E1B2E"/>
              </a:solidFill>
              <a:latin typeface="Georgia" panose="02040502050405020303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22960" y="2468880"/>
            <a:ext cx="347472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  <a:effectLst>
            <a:outerShdw blurRad="90000" dist="30000" dir="5400000" rotWithShape="0">
              <a:srgbClr val="0E1B2E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15568" y="2779776"/>
            <a:ext cx="384048" cy="27432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88036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E1B2E"/>
                </a:solidFill>
                <a:latin typeface="Segoe UI" panose="020B0502040204020203"/>
              </a:rPr>
              <a:t>Auto-layout</a:t>
            </a:r>
            <a:endParaRPr sz="1800" b="1" i="0">
              <a:solidFill>
                <a:srgbClr val="0E1B2E"/>
              </a:solidFill>
              <a:latin typeface="Segoe UI" panose="020B0502040204020203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15568" y="3383280"/>
            <a:ext cx="2971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455063"/>
                </a:solidFill>
                <a:latin typeface="Segoe UI" panose="020B0502040204020203"/>
              </a:rPr>
              <a:t>A layered DAG algorithm tidies the whole graph with a single keystroke.</a:t>
            </a:r>
            <a:endParaRPr sz="1300" b="0" i="0">
              <a:solidFill>
                <a:srgbClr val="455063"/>
              </a:solidFill>
              <a:latin typeface="Segoe UI" panose="020B0502040204020203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526280" y="2468880"/>
            <a:ext cx="347472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  <a:effectLst>
            <a:outerShdw blurRad="90000" dist="30000" dir="5400000" rotWithShape="0">
              <a:srgbClr val="0E1B2E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818888" y="2779776"/>
            <a:ext cx="384048" cy="27432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18888" y="288036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E1B2E"/>
                </a:solidFill>
                <a:latin typeface="Segoe UI" panose="020B0502040204020203"/>
              </a:rPr>
              <a:t>Version snapshots</a:t>
            </a:r>
            <a:endParaRPr sz="1800" b="1" i="0">
              <a:solidFill>
                <a:srgbClr val="0E1B2E"/>
              </a:solidFill>
              <a:latin typeface="Segoe UI" panose="020B0502040204020203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818888" y="3383280"/>
            <a:ext cx="2971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455063"/>
                </a:solidFill>
                <a:latin typeface="Segoe UI" panose="020B0502040204020203"/>
              </a:rPr>
              <a:t>Capture and restore local checkpoints of any workflow, instantly.</a:t>
            </a:r>
            <a:endParaRPr sz="1300" b="0" i="0">
              <a:solidFill>
                <a:srgbClr val="455063"/>
              </a:solidFill>
              <a:latin typeface="Segoe UI" panose="020B0502040204020203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229600" y="2468880"/>
            <a:ext cx="347472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  <a:effectLst>
            <a:outerShdw blurRad="90000" dist="30000" dir="5400000" rotWithShape="0">
              <a:srgbClr val="0E1B2E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22208" y="2779776"/>
            <a:ext cx="384048" cy="27432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22208" y="288036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E1B2E"/>
                </a:solidFill>
                <a:latin typeface="Segoe UI" panose="020B0502040204020203"/>
              </a:rPr>
              <a:t>Copy / cut / paste</a:t>
            </a:r>
            <a:endParaRPr sz="1800" b="1" i="0">
              <a:solidFill>
                <a:srgbClr val="0E1B2E"/>
              </a:solidFill>
              <a:latin typeface="Segoe UI" panose="020B0502040204020203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522208" y="3383280"/>
            <a:ext cx="2971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455063"/>
                </a:solidFill>
                <a:latin typeface="Segoe UI" panose="020B0502040204020203"/>
              </a:rPr>
              <a:t>Full keyboard-driven node editing with a 50-step undo &amp; redo history.</a:t>
            </a:r>
            <a:endParaRPr sz="1300" b="0" i="0">
              <a:solidFill>
                <a:srgbClr val="455063"/>
              </a:solidFill>
              <a:latin typeface="Segoe UI" panose="020B0502040204020203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22960" y="4297680"/>
            <a:ext cx="347472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  <a:effectLst>
            <a:outerShdw blurRad="90000" dist="30000" dir="5400000" rotWithShape="0">
              <a:srgbClr val="0E1B2E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15568" y="4608576"/>
            <a:ext cx="384048" cy="27432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5568" y="470916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E1B2E"/>
                </a:solidFill>
                <a:latin typeface="Segoe UI" panose="020B0502040204020203"/>
              </a:rPr>
              <a:t>Light &amp; dark themes</a:t>
            </a:r>
            <a:endParaRPr sz="1800" b="1" i="0">
              <a:solidFill>
                <a:srgbClr val="0E1B2E"/>
              </a:solidFill>
              <a:latin typeface="Segoe UI" panose="020B0502040204020203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15568" y="5212080"/>
            <a:ext cx="2971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455063"/>
                </a:solidFill>
                <a:latin typeface="Segoe UI" panose="020B0502040204020203"/>
              </a:rPr>
              <a:t>A token-based design system, applied before the first paint.</a:t>
            </a:r>
            <a:endParaRPr sz="1300" b="0" i="0">
              <a:solidFill>
                <a:srgbClr val="455063"/>
              </a:solidFill>
              <a:latin typeface="Segoe UI" panose="020B0502040204020203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526280" y="4297680"/>
            <a:ext cx="347472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  <a:effectLst>
            <a:outerShdw blurRad="90000" dist="30000" dir="5400000" rotWithShape="0">
              <a:srgbClr val="0E1B2E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18888" y="4608576"/>
            <a:ext cx="384048" cy="27432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18888" y="470916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E1B2E"/>
                </a:solidFill>
                <a:latin typeface="Segoe UI" panose="020B0502040204020203"/>
              </a:rPr>
              <a:t>Command palette</a:t>
            </a:r>
            <a:endParaRPr sz="1800" b="1" i="0">
              <a:solidFill>
                <a:srgbClr val="0E1B2E"/>
              </a:solidFill>
              <a:latin typeface="Segoe UI" panose="020B0502040204020203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818888" y="5212080"/>
            <a:ext cx="2971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455063"/>
                </a:solidFill>
                <a:latin typeface="Segoe UI" panose="020B0502040204020203"/>
              </a:rPr>
              <a:t>Press Cmd-K to navigate, insert any node, or run any action.</a:t>
            </a:r>
            <a:endParaRPr sz="1300" b="0" i="0">
              <a:solidFill>
                <a:srgbClr val="455063"/>
              </a:solidFill>
              <a:latin typeface="Segoe UI" panose="020B0502040204020203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229600" y="4297680"/>
            <a:ext cx="347472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  <a:effectLst>
            <a:outerShdw blurRad="90000" dist="30000" dir="5400000" rotWithShape="0">
              <a:srgbClr val="0E1B2E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522208" y="4608576"/>
            <a:ext cx="384048" cy="27432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22208" y="470916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E1B2E"/>
                </a:solidFill>
                <a:latin typeface="Segoe UI" panose="020B0502040204020203"/>
              </a:rPr>
              <a:t>Cinematic 3D interface</a:t>
            </a:r>
            <a:endParaRPr sz="1800" b="1" i="0">
              <a:solidFill>
                <a:srgbClr val="0E1B2E"/>
              </a:solidFill>
              <a:latin typeface="Segoe UI" panose="020B0502040204020203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522208" y="5212080"/>
            <a:ext cx="2971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455063"/>
                </a:solidFill>
                <a:latin typeface="Segoe UI" panose="020B0502040204020203"/>
              </a:rPr>
              <a:t>A WebGL hero, guided onboarding tour, and graceful degradation.</a:t>
            </a:r>
            <a:endParaRPr sz="1300" b="0" i="0">
              <a:solidFill>
                <a:srgbClr val="455063"/>
              </a:solidFill>
              <a:latin typeface="Segoe UI" panose="020B0502040204020203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133856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A93A6"/>
                </a:solidFill>
                <a:latin typeface="Consolas" panose="020B0609020204030204"/>
              </a:rPr>
              <a:t>06</a:t>
            </a:r>
            <a:endParaRPr sz="1100" b="0" i="0">
              <a:solidFill>
                <a:srgbClr val="8A93A6"/>
              </a:solidFill>
              <a:latin typeface="Consolas" panose="020B060902020403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22960" y="640080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 spc="120">
                <a:solidFill>
                  <a:srgbClr val="8A93A6"/>
                </a:solidFill>
                <a:latin typeface="Segoe UI" panose="020B0502040204020203"/>
              </a:rPr>
              <a:t>FlowForge</a:t>
            </a:r>
            <a:endParaRPr sz="1100" b="0" i="0" spc="120">
              <a:solidFill>
                <a:srgbClr val="8A93A6"/>
              </a:solidFill>
              <a:latin typeface="Segoe UI" panose="020B0502040204020203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airplane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260">
                <a:solidFill>
                  <a:srgbClr val="1EA68C"/>
                </a:solidFill>
                <a:latin typeface="Segoe UI" panose="020B0502040204020203"/>
              </a:rPr>
              <a:t>WHY IT WINS</a:t>
            </a:r>
            <a:endParaRPr sz="1250" b="1" i="0" spc="260">
              <a:solidFill>
                <a:srgbClr val="1EA68C"/>
              </a:solidFill>
              <a:latin typeface="Segoe UI" panose="020B0502040204020203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41248" y="1024128"/>
            <a:ext cx="548640" cy="27432"/>
          </a:xfrm>
          <a:prstGeom prst="rect">
            <a:avLst/>
          </a:prstGeom>
          <a:solidFill>
            <a:srgbClr val="1E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14300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0E1B2E"/>
                </a:solidFill>
                <a:latin typeface="Georgia" panose="02040502050405020303"/>
              </a:rPr>
              <a:t>Comprehensive, honest, and real.</a:t>
            </a:r>
            <a:endParaRPr sz="3800" b="1" i="0">
              <a:solidFill>
                <a:srgbClr val="0E1B2E"/>
              </a:solidFill>
              <a:latin typeface="Georgia" panose="02040502050405020303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2423160" cy="1783080"/>
          </a:xfrm>
          <a:prstGeom prst="roundRect">
            <a:avLst/>
          </a:prstGeom>
          <a:solidFill>
            <a:srgbClr val="EEF2FC"/>
          </a:solidFill>
          <a:ln w="12700">
            <a:solidFill>
              <a:srgbClr val="E4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514600"/>
            <a:ext cx="24231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600" b="1" i="0">
                <a:solidFill>
                  <a:srgbClr val="3B5BDB"/>
                </a:solidFill>
                <a:latin typeface="Georgia" panose="02040502050405020303"/>
              </a:rPr>
              <a:t>20</a:t>
            </a:r>
            <a:endParaRPr sz="4600" b="1" i="0">
              <a:solidFill>
                <a:srgbClr val="3B5BDB"/>
              </a:solidFill>
              <a:latin typeface="Georgia" panose="02040502050405020303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3429000"/>
            <a:ext cx="2423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455063"/>
                </a:solidFill>
                <a:latin typeface="Segoe UI" panose="020B0502040204020203"/>
              </a:rPr>
              <a:t>executable</a:t>
            </a:r>
            <a:endParaRPr sz="1250" b="0" i="0">
              <a:solidFill>
                <a:srgbClr val="455063"/>
              </a:solidFill>
              <a:latin typeface="Segoe UI" panose="020B0502040204020203"/>
            </a:endParaRPr>
          </a:p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455063"/>
                </a:solidFill>
                <a:latin typeface="Segoe UI" panose="020B0502040204020203"/>
              </a:rPr>
              <a:t>node types</a:t>
            </a:r>
            <a:endParaRPr sz="1250" b="0" i="0">
              <a:solidFill>
                <a:srgbClr val="455063"/>
              </a:solidFill>
              <a:latin typeface="Segoe UI" panose="020B0502040204020203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474720" y="2377440"/>
            <a:ext cx="2423160" cy="1783080"/>
          </a:xfrm>
          <a:prstGeom prst="roundRect">
            <a:avLst/>
          </a:prstGeom>
          <a:solidFill>
            <a:srgbClr val="EEF2FC"/>
          </a:solidFill>
          <a:ln w="12700">
            <a:solidFill>
              <a:srgbClr val="E4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2514600"/>
            <a:ext cx="24231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600" b="1" i="0">
                <a:solidFill>
                  <a:srgbClr val="3B5BDB"/>
                </a:solidFill>
                <a:latin typeface="Georgia" panose="02040502050405020303"/>
              </a:rPr>
              <a:t>5</a:t>
            </a:r>
            <a:endParaRPr sz="4600" b="1" i="0">
              <a:solidFill>
                <a:srgbClr val="3B5BDB"/>
              </a:solidFill>
              <a:latin typeface="Georgia" panose="02040502050405020303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474720" y="3429000"/>
            <a:ext cx="2423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455063"/>
                </a:solidFill>
                <a:latin typeface="Segoe UI" panose="020B0502040204020203"/>
              </a:rPr>
              <a:t>node</a:t>
            </a:r>
            <a:endParaRPr sz="1250" b="0" i="0">
              <a:solidFill>
                <a:srgbClr val="455063"/>
              </a:solidFill>
              <a:latin typeface="Segoe UI" panose="020B0502040204020203"/>
            </a:endParaRPr>
          </a:p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455063"/>
                </a:solidFill>
                <a:latin typeface="Segoe UI" panose="020B0502040204020203"/>
              </a:rPr>
              <a:t>categories</a:t>
            </a:r>
            <a:endParaRPr sz="1250" b="0" i="0">
              <a:solidFill>
                <a:srgbClr val="455063"/>
              </a:solidFill>
              <a:latin typeface="Segoe UI" panose="020B0502040204020203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26480" y="2377440"/>
            <a:ext cx="2423160" cy="1783080"/>
          </a:xfrm>
          <a:prstGeom prst="roundRect">
            <a:avLst/>
          </a:prstGeom>
          <a:solidFill>
            <a:srgbClr val="EEF2FC"/>
          </a:solidFill>
          <a:ln w="12700">
            <a:solidFill>
              <a:srgbClr val="E4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2514600"/>
            <a:ext cx="24231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600" b="1" i="0">
                <a:solidFill>
                  <a:srgbClr val="3B5BDB"/>
                </a:solidFill>
                <a:latin typeface="Georgia" panose="02040502050405020303"/>
              </a:rPr>
              <a:t>0</a:t>
            </a:r>
            <a:endParaRPr sz="4600" b="1" i="0">
              <a:solidFill>
                <a:srgbClr val="3B5BDB"/>
              </a:solidFill>
              <a:latin typeface="Georgia" panose="02040502050405020303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126480" y="3429000"/>
            <a:ext cx="2423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455063"/>
                </a:solidFill>
                <a:latin typeface="Segoe UI" panose="020B0502040204020203"/>
              </a:rPr>
              <a:t>paid API keys</a:t>
            </a:r>
            <a:endParaRPr sz="1250" b="0" i="0">
              <a:solidFill>
                <a:srgbClr val="455063"/>
              </a:solidFill>
              <a:latin typeface="Segoe UI" panose="020B0502040204020203"/>
            </a:endParaRPr>
          </a:p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455063"/>
                </a:solidFill>
                <a:latin typeface="Segoe UI" panose="020B0502040204020203"/>
              </a:rPr>
              <a:t>required</a:t>
            </a:r>
            <a:endParaRPr sz="1250" b="0" i="0">
              <a:solidFill>
                <a:srgbClr val="455063"/>
              </a:solidFill>
              <a:latin typeface="Segoe UI" panose="020B0502040204020203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778240" y="2377440"/>
            <a:ext cx="2423160" cy="1783080"/>
          </a:xfrm>
          <a:prstGeom prst="roundRect">
            <a:avLst/>
          </a:prstGeom>
          <a:solidFill>
            <a:srgbClr val="EEF2FC"/>
          </a:solidFill>
          <a:ln w="12700">
            <a:solidFill>
              <a:srgbClr val="E4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2514600"/>
            <a:ext cx="24231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600" b="1" i="0">
                <a:solidFill>
                  <a:srgbClr val="3B5BDB"/>
                </a:solidFill>
                <a:latin typeface="Georgia" panose="02040502050405020303"/>
              </a:rPr>
              <a:t>100%</a:t>
            </a:r>
            <a:endParaRPr sz="4600" b="1" i="0">
              <a:solidFill>
                <a:srgbClr val="3B5BDB"/>
              </a:solidFill>
              <a:latin typeface="Georgia" panose="02040502050405020303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778240" y="3429000"/>
            <a:ext cx="2423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455063"/>
                </a:solidFill>
                <a:latin typeface="Segoe UI" panose="020B0502040204020203"/>
              </a:rPr>
              <a:t>offline-</a:t>
            </a:r>
            <a:endParaRPr sz="1250" b="0" i="0">
              <a:solidFill>
                <a:srgbClr val="455063"/>
              </a:solidFill>
              <a:latin typeface="Segoe UI" panose="020B0502040204020203"/>
            </a:endParaRPr>
          </a:p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455063"/>
                </a:solidFill>
                <a:latin typeface="Segoe UI" panose="020B0502040204020203"/>
              </a:rPr>
              <a:t>capable</a:t>
            </a:r>
            <a:endParaRPr sz="1250" b="0" i="0">
              <a:solidFill>
                <a:srgbClr val="455063"/>
              </a:solidFill>
              <a:latin typeface="Segoe UI" panose="020B0502040204020203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22960" y="4434840"/>
            <a:ext cx="10469880" cy="1600200"/>
          </a:xfrm>
          <a:prstGeom prst="roundRect">
            <a:avLst/>
          </a:prstGeom>
          <a:solidFill>
            <a:srgbClr val="11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4434840"/>
            <a:ext cx="109728" cy="1600200"/>
          </a:xfrm>
          <a:prstGeom prst="rect">
            <a:avLst/>
          </a:prstGeom>
          <a:solidFill>
            <a:srgbClr val="1E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34440" y="4663440"/>
            <a:ext cx="978408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DDE6F6"/>
                </a:solidFill>
                <a:latin typeface="Segoe UI" panose="020B0502040204020203"/>
              </a:rPr>
              <a:t>Every feature is real and runs on-device: a from-scratch engine, 20 working nodes, full run observability, auto-layout, versioning, and a cinematic 3D interface — documented honestly and deployed live. No mock-ups. No vendor lock-in. A product that simply works.</a:t>
            </a:r>
            <a:endParaRPr sz="1500" b="0" i="0">
              <a:solidFill>
                <a:srgbClr val="DDE6F6"/>
              </a:solidFill>
              <a:latin typeface="Segoe UI" panose="020B0502040204020203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33856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A93A6"/>
                </a:solidFill>
                <a:latin typeface="Consolas" panose="020B0609020204030204"/>
              </a:rPr>
              <a:t>07</a:t>
            </a:r>
            <a:endParaRPr sz="1100" b="0" i="0">
              <a:solidFill>
                <a:srgbClr val="8A93A6"/>
              </a:solidFill>
              <a:latin typeface="Consolas" panose="020B0609020204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22960" y="640080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 spc="120">
                <a:solidFill>
                  <a:srgbClr val="8A93A6"/>
                </a:solidFill>
                <a:latin typeface="Segoe UI" panose="020B0502040204020203"/>
              </a:rPr>
              <a:t>FlowForge</a:t>
            </a:r>
            <a:endParaRPr sz="1100" b="0" i="0" spc="120">
              <a:solidFill>
                <a:srgbClr val="8A93A6"/>
              </a:solidFill>
              <a:latin typeface="Segoe UI" panose="020B0502040204020203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airplane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1E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0" b="1" i="0">
                <a:solidFill>
                  <a:srgbClr val="0E1B2E"/>
                </a:solidFill>
                <a:latin typeface="Georgia" panose="02040502050405020303"/>
              </a:rPr>
              <a:t>FlowForge</a:t>
            </a:r>
            <a:endParaRPr sz="7000" b="1" i="0">
              <a:solidFill>
                <a:srgbClr val="0E1B2E"/>
              </a:solidFill>
              <a:latin typeface="Georgia" panose="02040502050405020303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69848" y="3291840"/>
            <a:ext cx="822960" cy="32004"/>
          </a:xfrm>
          <a:prstGeom prst="rect">
            <a:avLst/>
          </a:prstGeom>
          <a:solidFill>
            <a:srgbClr val="1E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566160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 i="1">
                <a:solidFill>
                  <a:srgbClr val="455063"/>
                </a:solidFill>
                <a:latin typeface="Georgia" panose="02040502050405020303"/>
              </a:rPr>
              <a:t>Automation, made visible.</a:t>
            </a:r>
            <a:endParaRPr sz="2700" b="0" i="1">
              <a:solidFill>
                <a:srgbClr val="455063"/>
              </a:solidFill>
              <a:latin typeface="Georgia" panose="02040502050405020303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24128" y="44348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3B5BDB"/>
                </a:solidFill>
                <a:latin typeface="Segoe UI" panose="020B0502040204020203"/>
              </a:rPr>
              <a:t>Now — let's watch it run, live.</a:t>
            </a:r>
            <a:endParaRPr sz="1900" b="1" i="0">
              <a:solidFill>
                <a:srgbClr val="3B5BDB"/>
              </a:solidFill>
              <a:latin typeface="Segoe UI" panose="020B0502040204020203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24128" y="58521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8A93A6"/>
                </a:solidFill>
                <a:latin typeface="Consolas" panose="020B0609020204030204"/>
              </a:rPr>
              <a:t>github.com/pal-123456789/flowforge      ·      flowforge-lac-eight.vercel.app</a:t>
            </a:r>
            <a:endParaRPr sz="1250" b="0" i="0">
              <a:solidFill>
                <a:srgbClr val="8A93A6"/>
              </a:solidFill>
              <a:latin typeface="Consolas" panose="020B060902020403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airplane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3294</Words>
  <Application>WPS Presentation</Application>
  <PresentationFormat>On-screen Show (4:3)</PresentationFormat>
  <Paragraphs>212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9" baseType="lpstr">
      <vt:lpstr>Arial</vt:lpstr>
      <vt:lpstr>SimSun</vt:lpstr>
      <vt:lpstr>Wingdings</vt:lpstr>
      <vt:lpstr>Arial</vt:lpstr>
      <vt:lpstr>Segoe UI</vt:lpstr>
      <vt:lpstr>Georgia</vt:lpstr>
      <vt:lpstr>Consolas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Abc Hello</cp:lastModifiedBy>
  <cp:revision>2</cp:revision>
  <dcterms:created xsi:type="dcterms:W3CDTF">2013-01-27T09:14:00Z</dcterms:created>
  <dcterms:modified xsi:type="dcterms:W3CDTF">2026-10-04T13:14:06Z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1033-12.1.0.25242</vt:lpwstr>
  </property>
  <property fmtid="{D5CDD505-2E9C-101B-9397-08002B2CF9AE}" pid="3" name="ICV">
    <vt:lpwstr>B489FE27B0404244B35F3D6EFC870130_12</vt:lpwstr>
  </property>
</Properties>
</file>